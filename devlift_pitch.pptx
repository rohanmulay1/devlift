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006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005840"/>
            <a:ext cx="45720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0" b="1" i="0">
                <a:solidFill>
                  <a:srgbClr val="0062FF"/>
                </a:solidFill>
              </a:rPr>
              <a:t>DevLift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2377440"/>
            <a:ext cx="2560320" cy="347472"/>
          </a:xfrm>
          <a:prstGeom prst="rect">
            <a:avLst/>
          </a:prstGeom>
          <a:solidFill>
            <a:srgbClr val="003A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2404872"/>
            <a:ext cx="24688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Powered by IBM watsonx.ai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83464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CBD5E1"/>
                </a:solidFill>
              </a:rPr>
              <a:t>AI-Powered Developer Onboarding Accelerator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3375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64748B"/>
                </a:solidFill>
              </a:rPr>
              <a:t>IBM Bob Hackathon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0" y="822960"/>
            <a:ext cx="5212080" cy="4937760"/>
          </a:xfrm>
          <a:prstGeom prst="rect">
            <a:avLst/>
          </a:prstGeom>
          <a:solidFill>
            <a:srgbClr val="121A2E"/>
          </a:solidFill>
          <a:ln w="19050">
            <a:solidFill>
              <a:srgbClr val="006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0" y="310896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0062FF"/>
                </a:solidFill>
              </a:rPr>
              <a:t>[ Screenshot: App Hero Page (slide1.png) 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006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777240"/>
            <a:ext cx="54864" cy="731520"/>
          </a:xfrm>
          <a:prstGeom prst="rect">
            <a:avLst/>
          </a:prstGeom>
          <a:solidFill>
            <a:srgbClr val="006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731520"/>
            <a:ext cx="7315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</a:rPr>
              <a:t>The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4173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BD5E1"/>
                </a:solidFill>
              </a:rPr>
              <a:t>Onboarding a new developer is slow, expensive, and unstructured.</a:t>
            </a:r>
          </a:p>
        </p:txBody>
      </p:sp>
      <p:sp>
        <p:nvSpPr>
          <p:cNvPr id="6" name="Rectangle 5"/>
          <p:cNvSpPr/>
          <p:nvPr/>
        </p:nvSpPr>
        <p:spPr>
          <a:xfrm>
            <a:off x="8412480" y="1463040"/>
            <a:ext cx="3200400" cy="2011680"/>
          </a:xfrm>
          <a:prstGeom prst="rect">
            <a:avLst/>
          </a:prstGeom>
          <a:solidFill>
            <a:srgbClr val="001A57"/>
          </a:solidFill>
          <a:ln w="12700">
            <a:solidFill>
              <a:srgbClr val="006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0" y="1600200"/>
            <a:ext cx="3200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 i="0">
                <a:solidFill>
                  <a:srgbClr val="0062FF"/>
                </a:solidFill>
              </a:rPr>
              <a:t>23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0" y="265176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CBD5E1"/>
                </a:solidFill>
              </a:rPr>
              <a:t>days average ramp-up
per new developer</a:t>
            </a:r>
          </a:p>
        </p:txBody>
      </p:sp>
      <p:sp>
        <p:nvSpPr>
          <p:cNvPr id="9" name="Rectangle 8"/>
          <p:cNvSpPr/>
          <p:nvPr/>
        </p:nvSpPr>
        <p:spPr>
          <a:xfrm>
            <a:off x="8412480" y="3657600"/>
            <a:ext cx="3200400" cy="1463040"/>
          </a:xfrm>
          <a:prstGeom prst="rect">
            <a:avLst/>
          </a:prstGeom>
          <a:solidFill>
            <a:srgbClr val="1A0900"/>
          </a:solidFill>
          <a:ln w="1270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0" y="379476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5A623"/>
                </a:solidFill>
              </a:rPr>
              <a:t>$15,000+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0" y="44348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CBD5E1"/>
                </a:solidFill>
              </a:rPr>
              <a:t>lost productivity per hire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1874519"/>
            <a:ext cx="7406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CBD5E1"/>
                </a:solidFill>
              </a:rPr>
              <a:t>• Engineers spend 3–4 weeks before their first meaningful contribution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2651759"/>
            <a:ext cx="7406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CBD5E1"/>
                </a:solidFill>
              </a:rPr>
              <a:t>• Codebases have no structured entry point — files read randomly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3428999"/>
            <a:ext cx="7406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CBD5E1"/>
                </a:solidFill>
              </a:rPr>
              <a:t>• Senior devs lose hours/week answering repetitive onboarding questions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4206239"/>
            <a:ext cx="7406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CBD5E1"/>
                </a:solidFill>
              </a:rPr>
              <a:t>• No standardised way to measure how contributor-friendly a repo is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006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777240"/>
            <a:ext cx="54864" cy="731520"/>
          </a:xfrm>
          <a:prstGeom prst="rect">
            <a:avLst/>
          </a:prstGeom>
          <a:solidFill>
            <a:srgbClr val="006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731520"/>
            <a:ext cx="7315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</a:rPr>
              <a:t>The Solution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508760"/>
            <a:ext cx="3749039" cy="1463040"/>
          </a:xfrm>
          <a:prstGeom prst="rect">
            <a:avLst/>
          </a:prstGeom>
          <a:solidFill>
            <a:srgbClr val="0D1833"/>
          </a:solidFill>
          <a:ln w="12700">
            <a:solidFill>
              <a:srgbClr val="006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0392" y="164592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62FF"/>
                </a:solidFill>
              </a:rPr>
              <a:t>🔗  Analyze a Repo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" y="2057400"/>
            <a:ext cx="3383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BD5E1"/>
                </a:solidFill>
              </a:rPr>
              <a:t>Paste any GitHub URL → full AI Onboarding Kit in 60 seconds</a:t>
            </a:r>
          </a:p>
        </p:txBody>
      </p:sp>
      <p:sp>
        <p:nvSpPr>
          <p:cNvPr id="8" name="Rectangle 7"/>
          <p:cNvSpPr/>
          <p:nvPr/>
        </p:nvSpPr>
        <p:spPr>
          <a:xfrm>
            <a:off x="4800600" y="1508760"/>
            <a:ext cx="3749039" cy="1463040"/>
          </a:xfrm>
          <a:prstGeom prst="rect">
            <a:avLst/>
          </a:prstGeom>
          <a:solidFill>
            <a:srgbClr val="0D1833"/>
          </a:solidFill>
          <a:ln w="12700">
            <a:solidFill>
              <a:srgbClr val="7B2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965192" y="164592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7B2FFF"/>
                </a:solidFill>
              </a:rPr>
              <a:t>✦  Discover Repos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65192" y="2057400"/>
            <a:ext cx="3383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BD5E1"/>
                </a:solidFill>
              </a:rPr>
              <a:t>Describe your stack → get curated open-source repo matches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32004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BD5E1"/>
                </a:solidFill>
              </a:rPr>
              <a:t>Kit includes: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3566160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▸  Architecture Overview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11880" y="3566160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▸  Key Components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3977640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▸  Complexity Hotspots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11880" y="3977640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▸  Suggested First Tasks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4389120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▸  Common Patterns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11880" y="4389120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▸  Setup Guide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85800" y="5303520"/>
            <a:ext cx="3474720" cy="411480"/>
          </a:xfrm>
          <a:prstGeom prst="rect">
            <a:avLst/>
          </a:prstGeom>
          <a:solidFill>
            <a:srgbClr val="003A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5330952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+ Contribution Readiness Score  (0 – 100)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0" y="1417320"/>
            <a:ext cx="5394960" cy="4572000"/>
          </a:xfrm>
          <a:prstGeom prst="rect">
            <a:avLst/>
          </a:prstGeom>
          <a:solidFill>
            <a:srgbClr val="121A2E"/>
          </a:solidFill>
          <a:ln w="19050">
            <a:solidFill>
              <a:srgbClr val="006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0" y="3520440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0062FF"/>
                </a:solidFill>
              </a:rPr>
              <a:t>[ Screenshot: Kit Results + Readiness Score (slide3.png) 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006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777240"/>
            <a:ext cx="54864" cy="731520"/>
          </a:xfrm>
          <a:prstGeom prst="rect">
            <a:avLst/>
          </a:prstGeom>
          <a:solidFill>
            <a:srgbClr val="006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73152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</a:rPr>
              <a:t>Technical Architecture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508760"/>
            <a:ext cx="11640312" cy="1024128"/>
          </a:xfrm>
          <a:prstGeom prst="rect">
            <a:avLst/>
          </a:prstGeom>
          <a:solidFill>
            <a:srgbClr val="0D1833"/>
          </a:solidFill>
          <a:ln w="12700">
            <a:solidFill>
              <a:srgbClr val="006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508760"/>
            <a:ext cx="1737360" cy="1024128"/>
          </a:xfrm>
          <a:prstGeom prst="rect">
            <a:avLst/>
          </a:prstGeom>
          <a:solidFill>
            <a:srgbClr val="006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1856232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A0F1E"/>
                </a:solidFill>
              </a:rPr>
              <a:t>USER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48840" y="1801368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Developer pastes GitHub URL or describes project requirement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54203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CBD5E1"/>
                </a:solidFill>
              </a:rPr>
              <a:t>▼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2587752"/>
            <a:ext cx="11640312" cy="1024128"/>
          </a:xfrm>
          <a:prstGeom prst="rect">
            <a:avLst/>
          </a:prstGeom>
          <a:solidFill>
            <a:srgbClr val="0D1833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74320" y="2587752"/>
            <a:ext cx="1737360" cy="102412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2935224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A0F1E"/>
                </a:solidFill>
              </a:rPr>
              <a:t>FRONTEND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48840" y="288036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Next.js validates input → POST /analyze or /recommend → renders kit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3621024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CBD5E1"/>
                </a:solidFill>
              </a:rPr>
              <a:t>▼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3666744"/>
            <a:ext cx="11640312" cy="1024128"/>
          </a:xfrm>
          <a:prstGeom prst="rect">
            <a:avLst/>
          </a:prstGeom>
          <a:solidFill>
            <a:srgbClr val="0D1833"/>
          </a:solidFill>
          <a:ln w="12700">
            <a:solidFill>
              <a:srgbClr val="7B2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74320" y="3666744"/>
            <a:ext cx="1737360" cy="1024128"/>
          </a:xfrm>
          <a:prstGeom prst="rect">
            <a:avLst/>
          </a:prstGeom>
          <a:solidFill>
            <a:srgbClr val="7B2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0040" y="4014216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A0F1E"/>
                </a:solidFill>
              </a:rPr>
              <a:t>BACKEND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48840" y="3959352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FastAPI fetches repo tree via GitHub API → builds prompt → calls watsonx.ai → parses JSON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4700016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CBD5E1"/>
                </a:solidFill>
              </a:rPr>
              <a:t>▼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4745736"/>
            <a:ext cx="11640312" cy="1024128"/>
          </a:xfrm>
          <a:prstGeom prst="rect">
            <a:avLst/>
          </a:prstGeom>
          <a:solidFill>
            <a:srgbClr val="0D1833"/>
          </a:solidFill>
          <a:ln w="1270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74320" y="4745736"/>
            <a:ext cx="1737360" cy="1024128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20040" y="5093208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A0F1E"/>
                </a:solidFill>
              </a:rPr>
              <a:t>IBM watsonx.ai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48840" y="5038344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Llama 3.1 70B receives prompt → returns structured JSON Onboarding Kit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006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777240"/>
            <a:ext cx="54864" cy="731520"/>
          </a:xfrm>
          <a:prstGeom prst="rect">
            <a:avLst/>
          </a:prstGeom>
          <a:solidFill>
            <a:srgbClr val="006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73152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Onboarding Kit: What You Get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08760"/>
            <a:ext cx="5486400" cy="1417320"/>
          </a:xfrm>
          <a:prstGeom prst="rect">
            <a:avLst/>
          </a:prstGeom>
          <a:solidFill>
            <a:srgbClr val="1E293D"/>
          </a:solidFill>
          <a:ln w="12700">
            <a:solidFill>
              <a:srgbClr val="006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673352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🏗  Architecture Overview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103120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BD5E1"/>
                </a:solidFill>
              </a:rPr>
              <a:t>How the system layers interact and data flows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0" y="1508760"/>
            <a:ext cx="5486400" cy="1417320"/>
          </a:xfrm>
          <a:prstGeom prst="rect">
            <a:avLst/>
          </a:prstGeom>
          <a:solidFill>
            <a:srgbClr val="1E293D"/>
          </a:solidFill>
          <a:ln w="12700">
            <a:solidFill>
              <a:srgbClr val="006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0" y="1673352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🔑  Key Components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2103120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BD5E1"/>
                </a:solidFill>
              </a:rPr>
              <a:t>7 most critical files a new dev must read first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3063240"/>
            <a:ext cx="5486400" cy="1417320"/>
          </a:xfrm>
          <a:prstGeom prst="rect">
            <a:avLst/>
          </a:prstGeom>
          <a:solidFill>
            <a:srgbClr val="1E293D"/>
          </a:solidFill>
          <a:ln w="12700">
            <a:solidFill>
              <a:srgbClr val="006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3227832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⚠  Complexity Hotspots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657600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BD5E1"/>
                </a:solidFill>
              </a:rPr>
              <a:t>Risky areas flagged with concrete tips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0" y="3063240"/>
            <a:ext cx="5486400" cy="1417320"/>
          </a:xfrm>
          <a:prstGeom prst="rect">
            <a:avLst/>
          </a:prstGeom>
          <a:solidFill>
            <a:srgbClr val="1E293D"/>
          </a:solidFill>
          <a:ln w="12700">
            <a:solidFill>
              <a:srgbClr val="006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0" y="3227832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✅  Suggested First Tasks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3657600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BD5E1"/>
                </a:solidFill>
              </a:rPr>
              <a:t>Starter contributions ranked easy / medium / hard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4617720"/>
            <a:ext cx="5486400" cy="1417320"/>
          </a:xfrm>
          <a:prstGeom prst="rect">
            <a:avLst/>
          </a:prstGeom>
          <a:solidFill>
            <a:srgbClr val="1E293D"/>
          </a:solidFill>
          <a:ln w="12700">
            <a:solidFill>
              <a:srgbClr val="006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4782312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🔄  Common Patterns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5212080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BD5E1"/>
                </a:solidFill>
              </a:rPr>
              <a:t>Conventions and idioms used throughout the codebase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0" y="4617720"/>
            <a:ext cx="5486400" cy="1417320"/>
          </a:xfrm>
          <a:prstGeom prst="rect">
            <a:avLst/>
          </a:prstGeom>
          <a:solidFill>
            <a:srgbClr val="1E293D"/>
          </a:solidFill>
          <a:ln w="12700">
            <a:solidFill>
              <a:srgbClr val="006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0" y="4782312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⚙  Setup Guide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0" y="5212080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BD5E1"/>
                </a:solidFill>
              </a:rPr>
              <a:t>Exact commands to install, run and test locally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17920" y="1417320"/>
            <a:ext cx="5577840" cy="5029200"/>
          </a:xfrm>
          <a:prstGeom prst="rect">
            <a:avLst/>
          </a:prstGeom>
          <a:solidFill>
            <a:srgbClr val="121A2E"/>
          </a:solidFill>
          <a:ln w="19050">
            <a:solidFill>
              <a:srgbClr val="006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17920" y="3749040"/>
            <a:ext cx="5577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0062FF"/>
                </a:solidFill>
              </a:rPr>
              <a:t>[ Screenshot: Kit Tabs — Hotspots view (slide5.png) 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7B2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777240"/>
            <a:ext cx="54864" cy="731520"/>
          </a:xfrm>
          <a:prstGeom prst="rect">
            <a:avLst/>
          </a:prstGeom>
          <a:solidFill>
            <a:srgbClr val="7B2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731520"/>
            <a:ext cx="7315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</a:rPr>
              <a:t>Discover Repos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4173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BD5E1"/>
                </a:solidFill>
              </a:rPr>
              <a:t>Describe your project — AI finds the best open-source repos matched to your stack.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01168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BD5E1"/>
                </a:solidFill>
              </a:rPr>
              <a:t>• Describe your tech requirement or project goal in plain English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69748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BD5E1"/>
                </a:solidFill>
              </a:rPr>
              <a:t>• IBM watsonx.ai extracts 3–5 targeted GitHub search queries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38328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BD5E1"/>
                </a:solidFill>
              </a:rPr>
              <a:t>• GitHub API returns top-starred repositories for each query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406908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BD5E1"/>
                </a:solidFill>
              </a:rPr>
              <a:t>• AI ranks and selects the best 3–5 matches with explanations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475488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BD5E1"/>
                </a:solidFill>
              </a:rPr>
              <a:t>• Each result links directly to a DevLift Onboarding Kit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0" y="1417320"/>
            <a:ext cx="5394960" cy="5029200"/>
          </a:xfrm>
          <a:prstGeom prst="rect">
            <a:avLst/>
          </a:prstGeom>
          <a:solidFill>
            <a:srgbClr val="121A2E"/>
          </a:solidFill>
          <a:ln w="19050">
            <a:solidFill>
              <a:srgbClr val="006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3749040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0062FF"/>
                </a:solidFill>
              </a:rPr>
              <a:t>[ Screenshot: Repo Recommendation Results 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006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777240"/>
            <a:ext cx="54864" cy="731520"/>
          </a:xfrm>
          <a:prstGeom prst="rect">
            <a:avLst/>
          </a:prstGeom>
          <a:solidFill>
            <a:srgbClr val="006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731520"/>
            <a:ext cx="7315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</a:rPr>
              <a:t>Tech Stack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08760"/>
            <a:ext cx="11064240" cy="749808"/>
          </a:xfrm>
          <a:prstGeom prst="rect">
            <a:avLst/>
          </a:prstGeom>
          <a:solidFill>
            <a:srgbClr val="1E29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508760"/>
            <a:ext cx="109728" cy="749808"/>
          </a:xfrm>
          <a:prstGeom prst="rect">
            <a:avLst/>
          </a:prstGeom>
          <a:solidFill>
            <a:srgbClr val="006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62FF"/>
                </a:solidFill>
              </a:rPr>
              <a:t>Frontend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0" y="1691640"/>
            <a:ext cx="5943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Next.js 14 · TypeScript · Tailwind CSS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0" y="1691640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CBD5E1"/>
                </a:solidFill>
              </a:rPr>
              <a:t>Vercel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377440"/>
            <a:ext cx="11064240" cy="749808"/>
          </a:xfrm>
          <a:prstGeom prst="rect">
            <a:avLst/>
          </a:prstGeom>
          <a:solidFill>
            <a:srgbClr val="1E29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2377440"/>
            <a:ext cx="109728" cy="74980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2560320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6B6D4"/>
                </a:solidFill>
              </a:rPr>
              <a:t>Backend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0" y="2560320"/>
            <a:ext cx="5943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FastAPI (Python) · Uvicorn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0" y="2560320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CBD5E1"/>
                </a:solidFill>
              </a:rPr>
              <a:t>Render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3246120"/>
            <a:ext cx="11064240" cy="749808"/>
          </a:xfrm>
          <a:prstGeom prst="rect">
            <a:avLst/>
          </a:prstGeom>
          <a:solidFill>
            <a:srgbClr val="1E29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3246120"/>
            <a:ext cx="109728" cy="749808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3429000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5A623"/>
                </a:solidFill>
              </a:rPr>
              <a:t>AI Model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3200" y="3429000"/>
            <a:ext cx="5943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IBM watsonx.ai · Meta Llama 3.1 70B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4114800"/>
            <a:ext cx="11064240" cy="749808"/>
          </a:xfrm>
          <a:prstGeom prst="rect">
            <a:avLst/>
          </a:prstGeom>
          <a:solidFill>
            <a:srgbClr val="1E29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48640" y="4114800"/>
            <a:ext cx="109728" cy="749808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4297680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22C55E"/>
                </a:solidFill>
              </a:rPr>
              <a:t>Repo Data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43200" y="4297680"/>
            <a:ext cx="5943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GitHub REST API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4983480"/>
            <a:ext cx="11064240" cy="749808"/>
          </a:xfrm>
          <a:prstGeom prst="rect">
            <a:avLst/>
          </a:prstGeom>
          <a:solidFill>
            <a:srgbClr val="1E29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48640" y="4983480"/>
            <a:ext cx="109728" cy="74980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7240" y="5166360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CBD5E1"/>
                </a:solidFill>
              </a:rPr>
              <a:t>Font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43200" y="5166360"/>
            <a:ext cx="5943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Geist Mono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" y="6126480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62FF"/>
                </a:solidFill>
              </a:rPr>
              <a:t>Live: devlift-ten.vercel.app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006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777240"/>
            <a:ext cx="54864" cy="731520"/>
          </a:xfrm>
          <a:prstGeom prst="rect">
            <a:avLst/>
          </a:prstGeom>
          <a:solidFill>
            <a:srgbClr val="006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731520"/>
            <a:ext cx="7315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</a:rPr>
              <a:t>Business Value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08760"/>
            <a:ext cx="5486400" cy="1920240"/>
          </a:xfrm>
          <a:prstGeom prst="rect">
            <a:avLst/>
          </a:prstGeom>
          <a:solidFill>
            <a:srgbClr val="1E293D"/>
          </a:solidFill>
          <a:ln w="12700">
            <a:solidFill>
              <a:srgbClr val="006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737360"/>
            <a:ext cx="5029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062FF"/>
                </a:solidFill>
              </a:rPr>
              <a:t>23 days → 60 sec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60604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CBD5E1"/>
                </a:solidFill>
              </a:rPr>
              <a:t>Onboarding time reduced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0" y="1508760"/>
            <a:ext cx="5486400" cy="1920240"/>
          </a:xfrm>
          <a:prstGeom prst="rect">
            <a:avLst/>
          </a:prstGeom>
          <a:solidFill>
            <a:srgbClr val="1E293D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29400" y="1737360"/>
            <a:ext cx="5029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22C55E"/>
                </a:solidFill>
              </a:rPr>
              <a:t>$15,000+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29400" y="260604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CBD5E1"/>
                </a:solidFill>
              </a:rPr>
              <a:t>Saved per new developer hire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3703320"/>
            <a:ext cx="5486400" cy="1920240"/>
          </a:xfrm>
          <a:prstGeom prst="rect">
            <a:avLst/>
          </a:prstGeom>
          <a:solidFill>
            <a:srgbClr val="1E293D"/>
          </a:solidFill>
          <a:ln w="12700">
            <a:solidFill>
              <a:srgbClr val="7B2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3931920"/>
            <a:ext cx="5029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7B2FFF"/>
                </a:solidFill>
              </a:rPr>
              <a:t>Every team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80060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CBD5E1"/>
                </a:solidFill>
              </a:rPr>
              <a:t>Universal market — all industries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0" y="3703320"/>
            <a:ext cx="5486400" cy="1920240"/>
          </a:xfrm>
          <a:prstGeom prst="rect">
            <a:avLst/>
          </a:prstGeom>
          <a:solidFill>
            <a:srgbClr val="1E293D"/>
          </a:solidFill>
          <a:ln w="1270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29400" y="3931920"/>
            <a:ext cx="5029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5A623"/>
                </a:solidFill>
              </a:rPr>
              <a:t>3 revenue paths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29400" y="480060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CBD5E1"/>
                </a:solidFill>
              </a:rPr>
              <a:t>SaaS · GitHub App · Enterprise API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626364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CBD5E1"/>
                </a:solidFill>
              </a:rPr>
              <a:t>DevLift pays for itself the first time a new developer joins your team.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006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777240"/>
            <a:ext cx="54864" cy="731520"/>
          </a:xfrm>
          <a:prstGeom prst="rect">
            <a:avLst/>
          </a:prstGeom>
          <a:solidFill>
            <a:srgbClr val="006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731520"/>
            <a:ext cx="7315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</a:rPr>
              <a:t>What's Next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08760"/>
            <a:ext cx="3566160" cy="2194560"/>
          </a:xfrm>
          <a:prstGeom prst="rect">
            <a:avLst/>
          </a:prstGeom>
          <a:solidFill>
            <a:srgbClr val="1E293D"/>
          </a:solidFill>
          <a:ln w="12700">
            <a:solidFill>
              <a:srgbClr val="006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69164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</a:rPr>
              <a:t>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28600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VS Code Extension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743200"/>
            <a:ext cx="31089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BD5E1"/>
                </a:solidFill>
              </a:rPr>
              <a:t>Onboarding kit inside your IDE — no browser needed</a:t>
            </a:r>
          </a:p>
        </p:txBody>
      </p:sp>
      <p:sp>
        <p:nvSpPr>
          <p:cNvPr id="9" name="Rectangle 8"/>
          <p:cNvSpPr/>
          <p:nvPr/>
        </p:nvSpPr>
        <p:spPr>
          <a:xfrm>
            <a:off x="4389120" y="1508760"/>
            <a:ext cx="3566160" cy="2194560"/>
          </a:xfrm>
          <a:prstGeom prst="rect">
            <a:avLst/>
          </a:prstGeom>
          <a:solidFill>
            <a:srgbClr val="1E293D"/>
          </a:solidFill>
          <a:ln w="12700">
            <a:solidFill>
              <a:srgbClr val="006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17720" y="169164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</a:rPr>
              <a:t>🤖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17720" y="228600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Slack Bot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7720" y="2743200"/>
            <a:ext cx="31089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BD5E1"/>
                </a:solidFill>
              </a:rPr>
              <a:t>/devlift command in any engineering channel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0" y="1508760"/>
            <a:ext cx="3566160" cy="2194560"/>
          </a:xfrm>
          <a:prstGeom prst="rect">
            <a:avLst/>
          </a:prstGeom>
          <a:solidFill>
            <a:srgbClr val="1E293D"/>
          </a:solidFill>
          <a:ln w="12700">
            <a:solidFill>
              <a:srgbClr val="006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58200" y="169164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</a:rPr>
              <a:t>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58200" y="228600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Enterprise API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58200" y="2743200"/>
            <a:ext cx="31089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BD5E1"/>
                </a:solidFill>
              </a:rPr>
              <a:t>White-label kit generation for large engineering teams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4114800"/>
            <a:ext cx="11064240" cy="1097280"/>
          </a:xfrm>
          <a:prstGeom prst="rect">
            <a:avLst/>
          </a:prstGeom>
          <a:solidFill>
            <a:srgbClr val="001A57"/>
          </a:solidFill>
          <a:ln w="12700">
            <a:solidFill>
              <a:srgbClr val="006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425196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Try it now:  devlift-ten.vercel.app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47091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CBD5E1"/>
                </a:solidFill>
              </a:rPr>
              <a:t>Built with IBM Bob  ·  IBM Bob Hackathon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